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</a:defRPr>
            </a:pPr>
            <a:r>
              <a:t>Qwen Transformer Block — NLPC / LPC Hardware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End-to-end token flow, per-block non-linear (NLPC) vs. linear crossbar (LPC) engine split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End-to-End Flow: Token → Attention → FFN → Sampling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914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Input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6736" y="777240"/>
            <a:ext cx="10058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Tokenization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450592" y="758952"/>
            <a:ext cx="2514600" cy="603504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50592" y="502920"/>
            <a:ext cx="2514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MEM/CTRL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3744" y="7772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Embedding lookup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785616" y="7772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Hidden vector buffer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12464" y="1060704"/>
            <a:ext cx="73152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93208" y="777240"/>
            <a:ext cx="12344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RMS Norm (NLPC)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55664" y="777240"/>
            <a:ext cx="14173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Q/K/V projection</a:t>
            </a:r>
            <a:br/>
            <a:r>
              <a:t>on PE array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777240"/>
            <a:ext cx="1371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qnorm/knorm (NLPC)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0616" y="7772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RoPE (NLPC)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8720" y="10607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22576" y="1060704"/>
            <a:ext cx="201168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74336" y="1060704"/>
            <a:ext cx="118872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27648" y="10607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72984" y="10607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72600" y="10607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74320" y="2130552"/>
            <a:ext cx="1517904" cy="603504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874520"/>
            <a:ext cx="151790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MEM/CTRL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2148840"/>
            <a:ext cx="1371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KV cache indexing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8528" y="21488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Q * K^T</a:t>
            </a:r>
            <a:br/>
            <a:r>
              <a:t>PE array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55264" y="2148840"/>
            <a:ext cx="13258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Causal mask (NLPC)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1488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softmax (NLPC)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25896" y="21488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softmax * v</a:t>
            </a:r>
            <a:br/>
            <a:r>
              <a:t>PE array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42632" y="2148840"/>
            <a:ext cx="1371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output projection</a:t>
            </a:r>
            <a:br/>
            <a:r>
              <a:t>(PE array)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42248" y="21488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Residual add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58984" y="2148840"/>
            <a:ext cx="16002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RMS normalization</a:t>
            </a:r>
            <a:br/>
            <a:r>
              <a:t>pre attention (NLPC)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19072" y="2432304"/>
            <a:ext cx="21945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248" y="24323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81144" y="24323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97880" y="24323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14616" y="24323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14232" y="24323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030968" y="24323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094976" y="1344168"/>
            <a:ext cx="0" cy="54406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64592" y="1888236"/>
            <a:ext cx="9930384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64592" y="1888236"/>
            <a:ext cx="0" cy="54406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64592" y="2432304"/>
            <a:ext cx="18288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74320" y="3520440"/>
            <a:ext cx="14630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Gate up projection</a:t>
            </a:r>
            <a:br/>
            <a:r>
              <a:t>in PE array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65376" y="3520440"/>
            <a:ext cx="14173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SiLU activation (NLPC)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10712" y="3520440"/>
            <a:ext cx="146304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SwiGLU multiply (NLPC)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1768" y="3520440"/>
            <a:ext cx="1371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Down projection</a:t>
            </a:r>
            <a:br/>
            <a:r>
              <a:t>in PE array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01384" y="3520440"/>
            <a:ext cx="11887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Residual add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18120" y="3520440"/>
            <a:ext cx="10058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LM head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1976" y="3520440"/>
            <a:ext cx="914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Top-K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737360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282696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73752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373368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690104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23960" y="3803904"/>
            <a:ext cx="128016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959084" y="2715768"/>
            <a:ext cx="0" cy="54406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91440" y="3259836"/>
            <a:ext cx="10867644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1440" y="3259836"/>
            <a:ext cx="0" cy="54406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1440" y="3803904"/>
            <a:ext cx="18288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74320" y="4343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95959"/>
                </a:solidFill>
              </a:defRPr>
            </a:pPr>
            <a:r>
              <a:t>NLPC = Non-Linear Processing Core (vector ALU engine)   |   PE array = ReRAM crossbar linear-processing core (LPC)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LPC (Linear Processing Core) — PE Internal Datapath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280160"/>
            <a:ext cx="8503920" cy="4206240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024128"/>
            <a:ext cx="8503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LPC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737360"/>
            <a:ext cx="10972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Input</a:t>
            </a:r>
            <a:br/>
            <a:r>
              <a:t>buffer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737360"/>
            <a:ext cx="265176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32*32 crossbar array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737360"/>
            <a:ext cx="15544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ADC/IV-sensing/</a:t>
            </a:r>
            <a:br/>
            <a:r>
              <a:t>SAR-TDC/Wear</a:t>
            </a:r>
            <a:br/>
            <a:r>
              <a:t>leveling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1737360"/>
            <a:ext cx="10972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Output</a:t>
            </a:r>
            <a:br/>
            <a:r>
              <a:t>buffer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389120"/>
            <a:ext cx="2651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Compute buffer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NLPC (Non-Linear Processing Core) — Internal Datapath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2377440" y="1280160"/>
            <a:ext cx="7406640" cy="4206240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1024128"/>
            <a:ext cx="7406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NLPC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737360"/>
            <a:ext cx="10972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Input</a:t>
            </a:r>
            <a:br/>
            <a:r>
              <a:t>buffer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737360"/>
            <a:ext cx="265176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32*32 crossbar array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737360"/>
            <a:ext cx="1097280" cy="1005840"/>
          </a:xfrm>
          <a:prstGeom prst="rect">
            <a:avLst/>
          </a:prstGeom>
          <a:solidFill>
            <a:srgbClr val="DDEBF7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Output</a:t>
            </a:r>
            <a:br/>
            <a:r>
              <a:t>buffer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4389120"/>
            <a:ext cx="2651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Compute buffer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5669280"/>
            <a:ext cx="7406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Output buffer highlighted — staging point where NLPC results feed back into the next crossbar pass.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