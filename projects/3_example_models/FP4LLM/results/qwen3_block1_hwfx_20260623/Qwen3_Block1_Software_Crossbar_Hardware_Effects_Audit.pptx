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2004B-062D-ACB8-9DC0-C7A28367E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2A56E-1A2F-20EE-D0FD-329559433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52F83-025B-C199-495D-89A0B7AB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2F8D7-6000-8B55-0453-2AFC38610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A8DE7-C48D-9FD6-8C62-34799862E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4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73877-56ED-DCFC-E46A-0CA95CBB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35897-F7DE-2932-52E2-7F5B5B4E1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F2916-D7CA-44AE-9918-6FD02530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465A-4B18-3165-450A-DEF70E80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9E474-281E-04A7-2503-E1F6CC4E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80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9DD0-DF05-E194-E658-ED0DFA5F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91F44-D290-AE5A-8C4A-D5036883C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18F15-1B51-F317-3B94-197E4512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737D6-922C-5F83-C785-33D9EED1E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7D11F-3830-9651-B6FF-EB3835D9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861F4-6B6B-E4CD-355B-3B54B513D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7D020-1390-5FEE-A7A2-FC146B436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EB3FB-6B17-373F-C4F2-D2B6A4393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ACEB1-E1DB-C575-1231-CC71EB4A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5C583-D565-EE77-B1A7-A8AF49C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29843-0F52-D1D9-A216-8019A0C5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0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AB881-27D3-8CE9-896B-4BDEE8FD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DD2A4-0ABB-F280-8616-FE3023672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ABA7E-A703-333A-32CD-B9363D7A8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F217DA-AF73-822C-DA92-8C6546E6A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DBE0E8-0DBD-27FE-C824-BF84D96EB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74CC2-A926-C3F0-A261-17F9EA31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CFEDA-1EA2-F116-10AD-26F5C423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AE6E6B-79BF-4DBD-6421-B9F5D6A7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02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C79D-ECBD-A220-E762-08B7163B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6DAD7-6787-E8AB-E82B-CC1E6A13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540B1-D499-5D3E-8A4C-09CD077A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97891-4C01-C8FE-4BE0-6A41A291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2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944CCD-B692-7A50-2638-4F03F42A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222F3-F4C4-36F6-2995-B8789BEE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A6001-ED60-59CB-F382-4712F5DA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9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781D-8410-8299-724D-A7A50CAAE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8A818-24AB-2381-FA74-9152696D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08019-BA06-6E63-8C92-FCD9A4402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C533A-5453-4D84-C1D9-CE004210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D2924-B5DB-691D-31AD-807CED6D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CEBB8-1108-7EB5-A8B9-A180ADA9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1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9546-BF66-3D55-2156-77821B740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DEDA8-94CF-FB30-2E56-E3515B880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C172B-8488-7A14-A693-BC80D5C88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76946-B2BC-C625-BD0C-CA52394B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ABF96-7D07-2385-B8BA-59B8EAA9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81D21-2C93-6EC2-5E37-E8642DB2E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3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3B32-1BF9-D933-CB57-82A60261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B7EEB-9F58-0A67-C1E5-D3BF85796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6B1E6-B3EB-583B-E1FC-710F1E53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5C68-FDE7-9C93-A232-18FCB6BB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0FC27-0783-8CB4-27D6-42D87856E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195224-A20B-0CBF-BC13-FA332E203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CC985-E0AB-5A72-769C-4B9C7E467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39647-0098-2BA5-62F9-B7E11036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3C640-252D-72D1-BCA7-AD1E6C8E2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002FF-1A6D-71ED-4519-D128B73E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4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4D77B-DB02-1F42-9C00-B17B37D7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973F0-AC9B-151B-7EF6-AAA9587BE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FB8B2-948D-0EE6-8640-DC3DB1C9F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7B147-F7D8-4B64-A645-4ADC72DF318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FD652-A7E6-C68A-664F-EA3A98A33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623AE-E208-FAB6-32A7-EF97E9E5E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9DFB0-4F6B-41F1-A60A-69D76C119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8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0000D9-DE43-BE25-88D6-0A4321F538C7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One-Block Qwen3 Software Crossbar Hardware-Effects Audit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6ABB2-095E-0085-9685-8ECB0C868125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What happened after inference on the mapped software crossbar path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4E410-09C4-0549-4E42-C4693443D48A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E010FC-E4D0-365A-375D-BFE886F0D66A}"/>
              </a:ext>
            </a:extLst>
          </p:cNvPr>
          <p:cNvSpPr/>
          <p:nvPr/>
        </p:nvSpPr>
        <p:spPr>
          <a:xfrm>
            <a:off x="635000" y="1524000"/>
            <a:ext cx="508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500">
                <a:solidFill>
                  <a:srgbClr val="17212B"/>
                </a:solidFill>
                <a:latin typeface="Aptos" panose="020B0004020202020204" pitchFamily="34" charset="0"/>
              </a:rPr>
              <a:t>Run
Qwen3-1.7B transformer block 1
Software crossbar path, W7/A7, prefill + decode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5F0088-378D-0F4A-1A49-FDC7183CD90F}"/>
              </a:ext>
            </a:extLst>
          </p:cNvPr>
          <p:cNvSpPr/>
          <p:nvPr/>
        </p:nvSpPr>
        <p:spPr>
          <a:xfrm>
            <a:off x="6477000" y="1524000"/>
            <a:ext cx="508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500">
                <a:solidFill>
                  <a:srgbClr val="17212B"/>
                </a:solidFill>
                <a:latin typeface="Aptos" panose="020B0004020202020204" pitchFamily="34" charset="0"/>
              </a:rPr>
              <a:t>Stimulus
GPU reference prompt/tokens reused only as input
No GPU comparison in this deck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DB6FA5-6A25-E14E-8FB8-D940B426A26E}"/>
              </a:ext>
            </a:extLst>
          </p:cNvPr>
          <p:cNvSpPr/>
          <p:nvPr/>
        </p:nvSpPr>
        <p:spPr>
          <a:xfrm>
            <a:off x="889000" y="3302000"/>
            <a:ext cx="10414000" cy="1206500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55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700" b="1">
                <a:solidFill>
                  <a:srgbClr val="17212B"/>
                </a:solidFill>
                <a:latin typeface="Aptos" panose="020B0004020202020204" pitchFamily="34" charset="0"/>
              </a:rPr>
              <a:t>Core takeaway: reliability changed stored cell levels, noise added read uncertainty, IV/ADC clipped oversized column currents, and TDC added digitization error. The largest hotspot is attention AV, especially decode.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E04D60-1AEE-5A6F-C59A-F1EDB14CBDBB}"/>
              </a:ext>
            </a:extLst>
          </p:cNvPr>
          <p:cNvSpPr txBox="1"/>
          <p:nvPr/>
        </p:nvSpPr>
        <p:spPr>
          <a:xfrm>
            <a:off x="1079500" y="4953000"/>
            <a:ext cx="100330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Result folder: results/qwen3_block1_hwfx_20260623
Prompt length: 27 prefill tokens, 1 decode token</a:t>
            </a:r>
          </a:p>
        </p:txBody>
      </p:sp>
    </p:spTree>
    <p:extLst>
      <p:ext uri="{BB962C8B-B14F-4D97-AF65-F5344CB8AC3E}">
        <p14:creationId xmlns:p14="http://schemas.microsoft.com/office/powerpoint/2010/main" val="87383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38EA4B-7BF4-1D19-C3D3-EEC54C2BD152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Hardware Path During Inference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A7E9A-4AA4-4687-63D6-365D826E70C8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The hardware effects are read in the same order a crossbar would see them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35E85-BF67-D4CE-1D62-931021DA58DA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6AB36E-C720-F0C5-8EC2-05B9FD3C725F}"/>
              </a:ext>
            </a:extLst>
          </p:cNvPr>
          <p:cNvSpPr/>
          <p:nvPr/>
        </p:nvSpPr>
        <p:spPr>
          <a:xfrm>
            <a:off x="635000" y="1968500"/>
            <a:ext cx="2286000" cy="1206500"/>
          </a:xfrm>
          <a:prstGeom prst="roundRect">
            <a:avLst/>
          </a:prstGeom>
          <a:solidFill>
            <a:srgbClr val="EDF6EE"/>
          </a:solidFill>
          <a:ln w="12700">
            <a:solidFill>
              <a:srgbClr val="3A7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17212B"/>
                </a:solidFill>
                <a:latin typeface="Aptos" panose="020B0004020202020204" pitchFamily="34" charset="0"/>
              </a:rPr>
              <a:t>Stored weights
Reliability
retention + BER + state spread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BD729-7D6E-616A-CC68-F817A48128AB}"/>
              </a:ext>
            </a:extLst>
          </p:cNvPr>
          <p:cNvSpPr/>
          <p:nvPr/>
        </p:nvSpPr>
        <p:spPr>
          <a:xfrm>
            <a:off x="3048000" y="2476500"/>
            <a:ext cx="317500" cy="101600"/>
          </a:xfrm>
          <a:prstGeom prst="rect">
            <a:avLst/>
          </a:prstGeom>
          <a:solidFill>
            <a:srgbClr val="5A6675"/>
          </a:solidFill>
          <a:ln w="12700">
            <a:solidFill>
              <a:srgbClr val="5A66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6DB301-B829-A617-C64D-DBE8A9BF1C63}"/>
              </a:ext>
            </a:extLst>
          </p:cNvPr>
          <p:cNvSpPr/>
          <p:nvPr/>
        </p:nvSpPr>
        <p:spPr>
          <a:xfrm>
            <a:off x="3492500" y="1968500"/>
            <a:ext cx="2286000" cy="1206500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0E7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17212B"/>
                </a:solidFill>
                <a:latin typeface="Aptos" panose="020B0004020202020204" pitchFamily="34" charset="0"/>
              </a:rPr>
              <a:t>Cell reads
Noise
thermal + shot + 1/f + RTN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86F967-220E-CB6B-D415-3E120CA81F7D}"/>
              </a:ext>
            </a:extLst>
          </p:cNvPr>
          <p:cNvSpPr/>
          <p:nvPr/>
        </p:nvSpPr>
        <p:spPr>
          <a:xfrm>
            <a:off x="5905500" y="2476500"/>
            <a:ext cx="317500" cy="101600"/>
          </a:xfrm>
          <a:prstGeom prst="rect">
            <a:avLst/>
          </a:prstGeom>
          <a:solidFill>
            <a:srgbClr val="5A6675"/>
          </a:solidFill>
          <a:ln w="12700">
            <a:solidFill>
              <a:srgbClr val="5A66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148320-B744-3B12-4897-8BAE68142EE6}"/>
              </a:ext>
            </a:extLst>
          </p:cNvPr>
          <p:cNvSpPr/>
          <p:nvPr/>
        </p:nvSpPr>
        <p:spPr>
          <a:xfrm>
            <a:off x="6350000" y="1968500"/>
            <a:ext cx="2286000" cy="120650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C77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17212B"/>
                </a:solidFill>
                <a:latin typeface="Aptos" panose="020B0004020202020204" pitchFamily="34" charset="0"/>
              </a:rPr>
              <a:t>Column sum
IV / ADC
current range + clipping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C360F4-9F4F-AE89-3540-FC885381D8B7}"/>
              </a:ext>
            </a:extLst>
          </p:cNvPr>
          <p:cNvSpPr/>
          <p:nvPr/>
        </p:nvSpPr>
        <p:spPr>
          <a:xfrm>
            <a:off x="8763000" y="2476500"/>
            <a:ext cx="317500" cy="101600"/>
          </a:xfrm>
          <a:prstGeom prst="rect">
            <a:avLst/>
          </a:prstGeom>
          <a:solidFill>
            <a:srgbClr val="5A6675"/>
          </a:solidFill>
          <a:ln w="12700">
            <a:solidFill>
              <a:srgbClr val="5A66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3E7EA6-F3C4-4347-9092-6137E541ECD6}"/>
              </a:ext>
            </a:extLst>
          </p:cNvPr>
          <p:cNvSpPr/>
          <p:nvPr/>
        </p:nvSpPr>
        <p:spPr>
          <a:xfrm>
            <a:off x="9207500" y="1968500"/>
            <a:ext cx="2286000" cy="120650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B6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17212B"/>
                </a:solidFill>
                <a:latin typeface="Aptos" panose="020B0004020202020204" pitchFamily="34" charset="0"/>
              </a:rPr>
              <a:t>Digital readout
TDC
SAR-FP conversion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06021C-B4F1-A369-1E70-0E98887DE8BA}"/>
              </a:ext>
            </a:extLst>
          </p:cNvPr>
          <p:cNvSpPr/>
          <p:nvPr/>
        </p:nvSpPr>
        <p:spPr>
          <a:xfrm>
            <a:off x="825500" y="4064000"/>
            <a:ext cx="10541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600">
                <a:solidFill>
                  <a:srgbClr val="17212B"/>
                </a:solidFill>
                <a:latin typeface="Aptos" panose="020B0004020202020204" pitchFamily="34" charset="0"/>
              </a:rPr>
              <a:t>How to read the results: reliability is persistent storage error; noise is random read-time uncertainty; IV/ADC is analog range loss; TDC is the final analog-to-digital conversion error.</a:t>
            </a:r>
          </a:p>
        </p:txBody>
      </p:sp>
    </p:spTree>
    <p:extLst>
      <p:ext uri="{BB962C8B-B14F-4D97-AF65-F5344CB8AC3E}">
        <p14:creationId xmlns:p14="http://schemas.microsoft.com/office/powerpoint/2010/main" val="2526826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408E5D-37E0-D13F-FE4B-4FBAE28FC2C7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Hardware Effects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63243D-E506-5105-9A62-FE6B7D553A81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Measured on the software crossbar prefill + decode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373DE-05FF-A742-BD5B-27D706010E89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94ABEE-2E93-4773-D05A-DCCE43BCC036}"/>
              </a:ext>
            </a:extLst>
          </p:cNvPr>
          <p:cNvSpPr/>
          <p:nvPr/>
        </p:nvSpPr>
        <p:spPr>
          <a:xfrm>
            <a:off x="571500" y="1524000"/>
            <a:ext cx="2603500" cy="1905000"/>
          </a:xfrm>
          <a:prstGeom prst="roundRect">
            <a:avLst/>
          </a:prstGeom>
          <a:solidFill>
            <a:srgbClr val="EDF6EE"/>
          </a:solidFill>
          <a:ln w="12700">
            <a:solidFill>
              <a:srgbClr val="3A7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62E7B-9EB1-DCD9-FAE5-1C8870CAE3FA}"/>
              </a:ext>
            </a:extLst>
          </p:cNvPr>
          <p:cNvSpPr txBox="1"/>
          <p:nvPr/>
        </p:nvSpPr>
        <p:spPr>
          <a:xfrm>
            <a:off x="723900" y="1651000"/>
            <a:ext cx="22987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3A7D44"/>
                </a:solidFill>
                <a:latin typeface="Aptos" panose="020B0004020202020204" pitchFamily="34" charset="0"/>
              </a:rPr>
              <a:t>Reliability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003DB-1F10-FEAB-FC50-62CAF4E4ECD9}"/>
              </a:ext>
            </a:extLst>
          </p:cNvPr>
          <p:cNvSpPr txBox="1"/>
          <p:nvPr/>
        </p:nvSpPr>
        <p:spPr>
          <a:xfrm>
            <a:off x="723900" y="1955800"/>
            <a:ext cx="22987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000" b="1">
                <a:solidFill>
                  <a:srgbClr val="17212B"/>
                </a:solidFill>
                <a:latin typeface="Aptos" panose="020B0004020202020204" pitchFamily="34" charset="0"/>
              </a:rPr>
              <a:t>5.141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3D0ABE-31F2-4C6D-79FB-5FF0429A72E3}"/>
              </a:ext>
            </a:extLst>
          </p:cNvPr>
          <p:cNvSpPr txBox="1"/>
          <p:nvPr/>
        </p:nvSpPr>
        <p:spPr>
          <a:xfrm>
            <a:off x="723900" y="2438400"/>
            <a:ext cx="2298700" cy="46679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mean int error
max 1,217
16,831,854 INT8 entries changed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883F67-348C-2748-E07B-5E687DCECDBD}"/>
              </a:ext>
            </a:extLst>
          </p:cNvPr>
          <p:cNvSpPr/>
          <p:nvPr/>
        </p:nvSpPr>
        <p:spPr>
          <a:xfrm>
            <a:off x="3429000" y="1524000"/>
            <a:ext cx="2603500" cy="1905000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0E7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41029-7030-5014-9B25-1A57F3A6C8F0}"/>
              </a:ext>
            </a:extLst>
          </p:cNvPr>
          <p:cNvSpPr txBox="1"/>
          <p:nvPr/>
        </p:nvSpPr>
        <p:spPr>
          <a:xfrm>
            <a:off x="3581400" y="1651000"/>
            <a:ext cx="22987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0E7C7B"/>
                </a:solidFill>
                <a:latin typeface="Aptos" panose="020B0004020202020204" pitchFamily="34" charset="0"/>
              </a:rPr>
              <a:t>Noise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38C2C9-270E-44B2-1E52-D28B6A77CA16}"/>
              </a:ext>
            </a:extLst>
          </p:cNvPr>
          <p:cNvSpPr txBox="1"/>
          <p:nvPr/>
        </p:nvSpPr>
        <p:spPr>
          <a:xfrm>
            <a:off x="3581400" y="1955800"/>
            <a:ext cx="22987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000" b="1">
                <a:solidFill>
                  <a:srgbClr val="17212B"/>
                </a:solidFill>
                <a:latin typeface="Aptos" panose="020B0004020202020204" pitchFamily="34" charset="0"/>
              </a:rPr>
              <a:t>28.504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5356C2-797E-3D2C-CDE1-7AFADFE2E83E}"/>
              </a:ext>
            </a:extLst>
          </p:cNvPr>
          <p:cNvSpPr txBox="1"/>
          <p:nvPr/>
        </p:nvSpPr>
        <p:spPr>
          <a:xfrm>
            <a:off x="3581400" y="2438400"/>
            <a:ext cx="22987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mean sigma levels
max 32.352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274676-5034-9B1B-1CD1-58F06CCF1E76}"/>
              </a:ext>
            </a:extLst>
          </p:cNvPr>
          <p:cNvSpPr/>
          <p:nvPr/>
        </p:nvSpPr>
        <p:spPr>
          <a:xfrm>
            <a:off x="6286500" y="1524000"/>
            <a:ext cx="2603500" cy="190500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C77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B191BA-5F2B-1FFD-B18A-2B1A0779A031}"/>
              </a:ext>
            </a:extLst>
          </p:cNvPr>
          <p:cNvSpPr txBox="1"/>
          <p:nvPr/>
        </p:nvSpPr>
        <p:spPr>
          <a:xfrm>
            <a:off x="6438900" y="1651000"/>
            <a:ext cx="22987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C77700"/>
                </a:solidFill>
                <a:latin typeface="Aptos" panose="020B0004020202020204" pitchFamily="34" charset="0"/>
              </a:rPr>
              <a:t>IV / ADC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7A718-71D3-E4AF-EFCE-FB1CFE09C781}"/>
              </a:ext>
            </a:extLst>
          </p:cNvPr>
          <p:cNvSpPr txBox="1"/>
          <p:nvPr/>
        </p:nvSpPr>
        <p:spPr>
          <a:xfrm>
            <a:off x="6438900" y="1955800"/>
            <a:ext cx="22987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000" b="1">
                <a:solidFill>
                  <a:srgbClr val="17212B"/>
                </a:solidFill>
                <a:latin typeface="Aptos" panose="020B0004020202020204" pitchFamily="34" charset="0"/>
              </a:rPr>
              <a:t>22,766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2B38CA-849B-4D27-502B-CF250C9BE704}"/>
              </a:ext>
            </a:extLst>
          </p:cNvPr>
          <p:cNvSpPr txBox="1"/>
          <p:nvPr/>
        </p:nvSpPr>
        <p:spPr>
          <a:xfrm>
            <a:off x="6438900" y="2438400"/>
            <a:ext cx="2298700" cy="46679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saturation events
6,680 clamped tile-columns
2,745 saturated tiles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E474A0-1BEC-CAED-6E49-3210C20B003C}"/>
              </a:ext>
            </a:extLst>
          </p:cNvPr>
          <p:cNvSpPr/>
          <p:nvPr/>
        </p:nvSpPr>
        <p:spPr>
          <a:xfrm>
            <a:off x="9144000" y="1524000"/>
            <a:ext cx="2603500" cy="190500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B6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2637CD-066D-43F3-B180-6CE09070656E}"/>
              </a:ext>
            </a:extLst>
          </p:cNvPr>
          <p:cNvSpPr txBox="1"/>
          <p:nvPr/>
        </p:nvSpPr>
        <p:spPr>
          <a:xfrm>
            <a:off x="9296400" y="1651000"/>
            <a:ext cx="22987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 b="1">
                <a:solidFill>
                  <a:srgbClr val="B63E3E"/>
                </a:solidFill>
                <a:latin typeface="Aptos" panose="020B0004020202020204" pitchFamily="34" charset="0"/>
              </a:rPr>
              <a:t>TDC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E26630-4026-8FA8-7794-11DCD758761C}"/>
              </a:ext>
            </a:extLst>
          </p:cNvPr>
          <p:cNvSpPr txBox="1"/>
          <p:nvPr/>
        </p:nvSpPr>
        <p:spPr>
          <a:xfrm>
            <a:off x="9296400" y="1955800"/>
            <a:ext cx="22987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000" b="1">
                <a:solidFill>
                  <a:srgbClr val="17212B"/>
                </a:solidFill>
                <a:latin typeface="Aptos" panose="020B0004020202020204" pitchFamily="34" charset="0"/>
              </a:rPr>
              <a:t>6.664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A97C3-C4E2-73EF-ED07-9C42D46597B8}"/>
              </a:ext>
            </a:extLst>
          </p:cNvPr>
          <p:cNvSpPr txBox="1"/>
          <p:nvPr/>
        </p:nvSpPr>
        <p:spPr>
          <a:xfrm>
            <a:off x="9296400" y="2438400"/>
            <a:ext cx="2298700" cy="46679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mean int error
max 58,444
22,101,664 outputs converted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1EFB6E3-5B1B-59C2-E025-BF3653CB4EBC}"/>
              </a:ext>
            </a:extLst>
          </p:cNvPr>
          <p:cNvSpPr/>
          <p:nvPr/>
        </p:nvSpPr>
        <p:spPr>
          <a:xfrm>
            <a:off x="889000" y="4318000"/>
            <a:ext cx="10414000" cy="107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600" b="1">
                <a:solidFill>
                  <a:srgbClr val="17212B"/>
                </a:solidFill>
                <a:latin typeface="Aptos" panose="020B0004020202020204" pitchFamily="34" charset="0"/>
              </a:rPr>
              <a:t>Most important reading: IV/ADC and TDC show where the analog readout path is under pressure. The largest TDC hotspot is decode attention AV, with mean/max integer error 805.297 / 58,444.</a:t>
            </a:r>
          </a:p>
        </p:txBody>
      </p:sp>
    </p:spTree>
    <p:extLst>
      <p:ext uri="{BB962C8B-B14F-4D97-AF65-F5344CB8AC3E}">
        <p14:creationId xmlns:p14="http://schemas.microsoft.com/office/powerpoint/2010/main" val="94770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6B799-41E6-62E8-E94B-CB347E70B7C6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Reliability: What Happened To Stored Weights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D6709-4532-30A7-8F56-A2D4E7DC4E1E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ReRAM cell levels were stored, then drift/fault models were applied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30541-E51E-AE84-142F-15B4FC712B28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D3E25E-1339-D9F1-9054-6E1EAB8BD8FD}"/>
              </a:ext>
            </a:extLst>
          </p:cNvPr>
          <p:cNvSpPr/>
          <p:nvPr/>
        </p:nvSpPr>
        <p:spPr>
          <a:xfrm>
            <a:off x="698500" y="1333500"/>
            <a:ext cx="50800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400">
                <a:solidFill>
                  <a:srgbClr val="17212B"/>
                </a:solidFill>
                <a:latin typeface="Aptos" panose="020B0004020202020204" pitchFamily="34" charset="0"/>
              </a:rPr>
              <a:t>What was modeled
30-day retention drift
0.02 log-normal state spread
10 ppm raw BER with ECC
What happened
402,509,700 cell levels changed
2 raw BER flips remained
16,831,854 INT8 weight entries changed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86C1F-32B7-F85C-1F0D-237B201BE67F}"/>
              </a:ext>
            </a:extLst>
          </p:cNvPr>
          <p:cNvSpPr txBox="1"/>
          <p:nvPr/>
        </p:nvSpPr>
        <p:spPr>
          <a:xfrm>
            <a:off x="6350000" y="1524000"/>
            <a:ext cx="4826000" cy="2205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17212B"/>
                </a:solidFill>
                <a:latin typeface="Aptos" panose="020B0004020202020204" pitchFamily="34" charset="0"/>
              </a:rPr>
              <a:t>Mean integer branch error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18D99A-F37C-E5D5-3F27-D9DA9566FAF5}"/>
              </a:ext>
            </a:extLst>
          </p:cNvPr>
          <p:cNvSpPr txBox="1"/>
          <p:nvPr/>
        </p:nvSpPr>
        <p:spPr>
          <a:xfrm>
            <a:off x="6350000" y="1955800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Prefill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5AD91-104E-687F-9CB2-7E0DF0D17B92}"/>
              </a:ext>
            </a:extLst>
          </p:cNvPr>
          <p:cNvSpPr/>
          <p:nvPr/>
        </p:nvSpPr>
        <p:spPr>
          <a:xfrm>
            <a:off x="7747000" y="2006600"/>
            <a:ext cx="2159000" cy="364067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F04F2D-7A3D-4DE9-DA51-4D61AA319246}"/>
              </a:ext>
            </a:extLst>
          </p:cNvPr>
          <p:cNvSpPr/>
          <p:nvPr/>
        </p:nvSpPr>
        <p:spPr>
          <a:xfrm>
            <a:off x="7747000" y="2006600"/>
            <a:ext cx="1143000" cy="364067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DB13E5-7C87-D476-4572-A4889B4BDA48}"/>
              </a:ext>
            </a:extLst>
          </p:cNvPr>
          <p:cNvSpPr txBox="1"/>
          <p:nvPr/>
        </p:nvSpPr>
        <p:spPr>
          <a:xfrm>
            <a:off x="10033000" y="1955800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4.983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C43BC-5EE4-AEA5-CFD1-F6BCD7A75BA2}"/>
              </a:ext>
            </a:extLst>
          </p:cNvPr>
          <p:cNvSpPr txBox="1"/>
          <p:nvPr/>
        </p:nvSpPr>
        <p:spPr>
          <a:xfrm>
            <a:off x="6350000" y="2523067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Decode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F07021-F580-7601-4D68-7DDABA6402B0}"/>
              </a:ext>
            </a:extLst>
          </p:cNvPr>
          <p:cNvSpPr/>
          <p:nvPr/>
        </p:nvSpPr>
        <p:spPr>
          <a:xfrm>
            <a:off x="7747000" y="2573867"/>
            <a:ext cx="2159000" cy="364066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D6A076-7A46-7142-59C3-2301A1A744FC}"/>
              </a:ext>
            </a:extLst>
          </p:cNvPr>
          <p:cNvSpPr/>
          <p:nvPr/>
        </p:nvSpPr>
        <p:spPr>
          <a:xfrm>
            <a:off x="7747000" y="2573867"/>
            <a:ext cx="2159000" cy="364066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96DC3B-CC5C-FE57-3126-6BFCAF40B8E1}"/>
              </a:ext>
            </a:extLst>
          </p:cNvPr>
          <p:cNvSpPr txBox="1"/>
          <p:nvPr/>
        </p:nvSpPr>
        <p:spPr>
          <a:xfrm>
            <a:off x="10033000" y="2523067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9.383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A6183-938C-C915-71F0-DD1F2DEC4EAA}"/>
              </a:ext>
            </a:extLst>
          </p:cNvPr>
          <p:cNvSpPr txBox="1"/>
          <p:nvPr/>
        </p:nvSpPr>
        <p:spPr>
          <a:xfrm>
            <a:off x="6350000" y="3090333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Total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485C0C-E4D8-F7DE-C8F2-B0A70FDF062D}"/>
              </a:ext>
            </a:extLst>
          </p:cNvPr>
          <p:cNvSpPr/>
          <p:nvPr/>
        </p:nvSpPr>
        <p:spPr>
          <a:xfrm>
            <a:off x="7747000" y="3141133"/>
            <a:ext cx="2159000" cy="364067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543C6E-226B-9F46-01CF-00C3920FDDD6}"/>
              </a:ext>
            </a:extLst>
          </p:cNvPr>
          <p:cNvSpPr/>
          <p:nvPr/>
        </p:nvSpPr>
        <p:spPr>
          <a:xfrm>
            <a:off x="7747000" y="3141133"/>
            <a:ext cx="1181100" cy="364067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06C294-62F7-77FA-ED62-7F04059980C2}"/>
              </a:ext>
            </a:extLst>
          </p:cNvPr>
          <p:cNvSpPr txBox="1"/>
          <p:nvPr/>
        </p:nvSpPr>
        <p:spPr>
          <a:xfrm>
            <a:off x="10033000" y="3090333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5.141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8AD56F5-BFD1-B419-F594-8C47D89BA44C}"/>
              </a:ext>
            </a:extLst>
          </p:cNvPr>
          <p:cNvSpPr/>
          <p:nvPr/>
        </p:nvSpPr>
        <p:spPr>
          <a:xfrm>
            <a:off x="6350000" y="4254500"/>
            <a:ext cx="4826000" cy="1079500"/>
          </a:xfrm>
          <a:prstGeom prst="roundRect">
            <a:avLst/>
          </a:prstGeom>
          <a:solidFill>
            <a:srgbClr val="EDF6EE"/>
          </a:solidFill>
          <a:ln w="12700">
            <a:solidFill>
              <a:srgbClr val="3A7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300">
                <a:solidFill>
                  <a:srgbClr val="17212B"/>
                </a:solidFill>
                <a:latin typeface="Aptos" panose="020B0004020202020204" pitchFamily="34" charset="0"/>
              </a:rPr>
              <a:t>Interpretation
Stored weights were not ideal after retention. The average branch sum moved by 5.141 integer levels; worst observed branch error was 1,217.</a:t>
            </a:r>
          </a:p>
        </p:txBody>
      </p:sp>
    </p:spTree>
    <p:extLst>
      <p:ext uri="{BB962C8B-B14F-4D97-AF65-F5344CB8AC3E}">
        <p14:creationId xmlns:p14="http://schemas.microsoft.com/office/powerpoint/2010/main" val="259387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0D9B20-952D-51D3-C914-5C882EC0B827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Noise: What Happened During Each Read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F392A-B562-F55E-6115-07FB0517EA54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Read noise is transient uncertainty, not a permanent weight change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D06E5-CB37-F792-70CC-9B00DB81F44B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A9569B-0EE7-2266-EB73-51F564044B31}"/>
              </a:ext>
            </a:extLst>
          </p:cNvPr>
          <p:cNvSpPr/>
          <p:nvPr/>
        </p:nvSpPr>
        <p:spPr>
          <a:xfrm>
            <a:off x="698500" y="1270000"/>
            <a:ext cx="5207000" cy="438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300">
                <a:solidFill>
                  <a:srgbClr val="17212B"/>
                </a:solidFill>
                <a:latin typeface="Aptos" panose="020B0004020202020204" pitchFamily="34" charset="0"/>
              </a:rPr>
              <a:t>Noise sources included
Thermal: 4 k T / R
Shot: 2 q I * fano
Flicker / 1/f noise
RTN
Readout/sense RMS noise
Bandwidth integration at 5 kHz
Measured uncertainty
Mean sigma: 28.503848 levels
Max sigma: 32.351608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C49F1-3131-478A-1AF4-2A668D979F7C}"/>
              </a:ext>
            </a:extLst>
          </p:cNvPr>
          <p:cNvSpPr txBox="1"/>
          <p:nvPr/>
        </p:nvSpPr>
        <p:spPr>
          <a:xfrm>
            <a:off x="6540500" y="1587500"/>
            <a:ext cx="4635500" cy="2205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17212B"/>
                </a:solidFill>
                <a:latin typeface="Aptos" panose="020B0004020202020204" pitchFamily="34" charset="0"/>
              </a:rPr>
              <a:t>Mean read-noise sigma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DACD9-47F5-A5EF-9B0E-703BD887EA75}"/>
              </a:ext>
            </a:extLst>
          </p:cNvPr>
          <p:cNvSpPr txBox="1"/>
          <p:nvPr/>
        </p:nvSpPr>
        <p:spPr>
          <a:xfrm>
            <a:off x="6540500" y="2019300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Prefill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BE5C84-D1F0-4A92-1547-A6ADDD425D22}"/>
              </a:ext>
            </a:extLst>
          </p:cNvPr>
          <p:cNvSpPr/>
          <p:nvPr/>
        </p:nvSpPr>
        <p:spPr>
          <a:xfrm>
            <a:off x="7937500" y="2070100"/>
            <a:ext cx="1968500" cy="342900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75A6B0-E64A-A360-78E4-E6784C708041}"/>
              </a:ext>
            </a:extLst>
          </p:cNvPr>
          <p:cNvSpPr/>
          <p:nvPr/>
        </p:nvSpPr>
        <p:spPr>
          <a:xfrm>
            <a:off x="7937500" y="2070100"/>
            <a:ext cx="1968500" cy="3429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621E5-7EBB-B05F-25B4-4CB777729627}"/>
              </a:ext>
            </a:extLst>
          </p:cNvPr>
          <p:cNvSpPr txBox="1"/>
          <p:nvPr/>
        </p:nvSpPr>
        <p:spPr>
          <a:xfrm>
            <a:off x="10033000" y="2019300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28.504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543F36-AE10-0502-7263-01CBCA6D7CCA}"/>
              </a:ext>
            </a:extLst>
          </p:cNvPr>
          <p:cNvSpPr txBox="1"/>
          <p:nvPr/>
        </p:nvSpPr>
        <p:spPr>
          <a:xfrm>
            <a:off x="6540500" y="2565400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Decode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69E702-A73D-B440-171D-36B4B51DB20F}"/>
              </a:ext>
            </a:extLst>
          </p:cNvPr>
          <p:cNvSpPr/>
          <p:nvPr/>
        </p:nvSpPr>
        <p:spPr>
          <a:xfrm>
            <a:off x="7937500" y="2616200"/>
            <a:ext cx="1968500" cy="342900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3C105E-F06B-2797-C3DC-EF4EBF20B451}"/>
              </a:ext>
            </a:extLst>
          </p:cNvPr>
          <p:cNvSpPr/>
          <p:nvPr/>
        </p:nvSpPr>
        <p:spPr>
          <a:xfrm>
            <a:off x="7937500" y="2616200"/>
            <a:ext cx="1968500" cy="3429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F47FA-F21A-F871-2765-4A9D083B76FC}"/>
              </a:ext>
            </a:extLst>
          </p:cNvPr>
          <p:cNvSpPr txBox="1"/>
          <p:nvPr/>
        </p:nvSpPr>
        <p:spPr>
          <a:xfrm>
            <a:off x="10033000" y="2565400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28.498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94978-B58B-9EA1-9333-AD9D02271D65}"/>
              </a:ext>
            </a:extLst>
          </p:cNvPr>
          <p:cNvSpPr txBox="1"/>
          <p:nvPr/>
        </p:nvSpPr>
        <p:spPr>
          <a:xfrm>
            <a:off x="6540500" y="3111500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Total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35A19F-A928-CE99-BD17-025D48203E23}"/>
              </a:ext>
            </a:extLst>
          </p:cNvPr>
          <p:cNvSpPr/>
          <p:nvPr/>
        </p:nvSpPr>
        <p:spPr>
          <a:xfrm>
            <a:off x="7937500" y="3162300"/>
            <a:ext cx="1968500" cy="342900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C1971A-5448-FCBC-5224-3A78A04CBCCB}"/>
              </a:ext>
            </a:extLst>
          </p:cNvPr>
          <p:cNvSpPr/>
          <p:nvPr/>
        </p:nvSpPr>
        <p:spPr>
          <a:xfrm>
            <a:off x="7937500" y="3162300"/>
            <a:ext cx="1968500" cy="3429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C7D85C-3E4E-1CB0-7777-4CBB3B76617A}"/>
              </a:ext>
            </a:extLst>
          </p:cNvPr>
          <p:cNvSpPr txBox="1"/>
          <p:nvPr/>
        </p:nvSpPr>
        <p:spPr>
          <a:xfrm>
            <a:off x="10033000" y="3111500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28.504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DF390C-2B82-4D4C-6BB9-AE8B63CC4D8B}"/>
              </a:ext>
            </a:extLst>
          </p:cNvPr>
          <p:cNvSpPr/>
          <p:nvPr/>
        </p:nvSpPr>
        <p:spPr>
          <a:xfrm>
            <a:off x="6540500" y="4254500"/>
            <a:ext cx="4635500" cy="1016000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0E7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300">
                <a:solidFill>
                  <a:srgbClr val="17212B"/>
                </a:solidFill>
                <a:latin typeface="Aptos" panose="020B0004020202020204" pitchFamily="34" charset="0"/>
              </a:rPr>
              <a:t>Interpretation
Every analog read has random current variation. A sigma near 28.5 levels means the same stored value can read slightly differently each time.</a:t>
            </a:r>
          </a:p>
        </p:txBody>
      </p:sp>
    </p:spTree>
    <p:extLst>
      <p:ext uri="{BB962C8B-B14F-4D97-AF65-F5344CB8AC3E}">
        <p14:creationId xmlns:p14="http://schemas.microsoft.com/office/powerpoint/2010/main" val="3209552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E8A512-FE8A-EB4B-253B-C92840CDCE2D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IV / ADC: What Happened When Column Current Was Too Large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0AEA6-9C21-1232-164D-4A4919C95314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Column sums exceeded the modeled readout range and were clipped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4EE37-D77E-5673-8B86-248752D77496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F4922E-8AC7-AEAF-0644-4B83354C7FC1}"/>
              </a:ext>
            </a:extLst>
          </p:cNvPr>
          <p:cNvSpPr/>
          <p:nvPr/>
        </p:nvSpPr>
        <p:spPr>
          <a:xfrm>
            <a:off x="698500" y="1333500"/>
            <a:ext cx="40005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400">
                <a:solidFill>
                  <a:srgbClr val="17212B"/>
                </a:solidFill>
                <a:latin typeface="Aptos" panose="020B0004020202020204" pitchFamily="34" charset="0"/>
              </a:rPr>
              <a:t>Readout limit
Mode: hard clamp
Full-scale: 2,250 product levels
Row groups: 4
Observed
22,766 saturation events
6,680 clamped tile-columns
2,745 saturated tiles
Max branch: 37,467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40669-FA9D-266F-7E91-F2BA8CEF83E8}"/>
              </a:ext>
            </a:extLst>
          </p:cNvPr>
          <p:cNvSpPr txBox="1"/>
          <p:nvPr/>
        </p:nvSpPr>
        <p:spPr>
          <a:xfrm>
            <a:off x="5207000" y="1460500"/>
            <a:ext cx="5969000" cy="2205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17212B"/>
                </a:solidFill>
                <a:latin typeface="Aptos" panose="020B0004020202020204" pitchFamily="34" charset="0"/>
              </a:rPr>
              <a:t>Saturation and clamped columns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B6F66-1CCA-689C-68B9-FC7E5E8F5477}"/>
              </a:ext>
            </a:extLst>
          </p:cNvPr>
          <p:cNvSpPr txBox="1"/>
          <p:nvPr/>
        </p:nvSpPr>
        <p:spPr>
          <a:xfrm>
            <a:off x="5207000" y="1892300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Prefill events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B211CD-29AF-E274-43CA-705C4151F922}"/>
              </a:ext>
            </a:extLst>
          </p:cNvPr>
          <p:cNvSpPr/>
          <p:nvPr/>
        </p:nvSpPr>
        <p:spPr>
          <a:xfrm>
            <a:off x="6604000" y="1943100"/>
            <a:ext cx="3302000" cy="355600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263A0B-D934-91E1-2CD4-6254CA8DC622}"/>
              </a:ext>
            </a:extLst>
          </p:cNvPr>
          <p:cNvSpPr/>
          <p:nvPr/>
        </p:nvSpPr>
        <p:spPr>
          <a:xfrm>
            <a:off x="6604000" y="1943100"/>
            <a:ext cx="3302000" cy="3556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59A4D-B021-11F2-60DF-1436D2B544F6}"/>
              </a:ext>
            </a:extLst>
          </p:cNvPr>
          <p:cNvSpPr txBox="1"/>
          <p:nvPr/>
        </p:nvSpPr>
        <p:spPr>
          <a:xfrm>
            <a:off x="10033000" y="1892300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19,411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3660B-65B2-FDFF-EC39-05A8D8ACB3CB}"/>
              </a:ext>
            </a:extLst>
          </p:cNvPr>
          <p:cNvSpPr txBox="1"/>
          <p:nvPr/>
        </p:nvSpPr>
        <p:spPr>
          <a:xfrm>
            <a:off x="5207000" y="2451100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Decode events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B06E39-BE1C-DD51-BB3F-67708733A0E8}"/>
              </a:ext>
            </a:extLst>
          </p:cNvPr>
          <p:cNvSpPr/>
          <p:nvPr/>
        </p:nvSpPr>
        <p:spPr>
          <a:xfrm>
            <a:off x="6604000" y="2501900"/>
            <a:ext cx="3302000" cy="355600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08225C-D0DF-B6B3-A704-FB658A329FF6}"/>
              </a:ext>
            </a:extLst>
          </p:cNvPr>
          <p:cNvSpPr/>
          <p:nvPr/>
        </p:nvSpPr>
        <p:spPr>
          <a:xfrm>
            <a:off x="6604000" y="2501900"/>
            <a:ext cx="571500" cy="3556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FCF4DD-966A-AFE9-2C35-7CEA39AF4AAA}"/>
              </a:ext>
            </a:extLst>
          </p:cNvPr>
          <p:cNvSpPr txBox="1"/>
          <p:nvPr/>
        </p:nvSpPr>
        <p:spPr>
          <a:xfrm>
            <a:off x="10033000" y="2451100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3,355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36B2EF-F44A-6A08-2BBF-641429C7DB80}"/>
              </a:ext>
            </a:extLst>
          </p:cNvPr>
          <p:cNvSpPr txBox="1"/>
          <p:nvPr/>
        </p:nvSpPr>
        <p:spPr>
          <a:xfrm>
            <a:off x="5207000" y="3009900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Prefill columns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83FF00-8739-FC28-2F4D-F46E41DAD995}"/>
              </a:ext>
            </a:extLst>
          </p:cNvPr>
          <p:cNvSpPr/>
          <p:nvPr/>
        </p:nvSpPr>
        <p:spPr>
          <a:xfrm>
            <a:off x="6604000" y="3060700"/>
            <a:ext cx="3302000" cy="355600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95160A-2BDD-6900-4283-63395BE2BE08}"/>
              </a:ext>
            </a:extLst>
          </p:cNvPr>
          <p:cNvSpPr/>
          <p:nvPr/>
        </p:nvSpPr>
        <p:spPr>
          <a:xfrm>
            <a:off x="6604000" y="3060700"/>
            <a:ext cx="584200" cy="3556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4585C4-D953-3CBD-D844-443C2D40ED34}"/>
              </a:ext>
            </a:extLst>
          </p:cNvPr>
          <p:cNvSpPr txBox="1"/>
          <p:nvPr/>
        </p:nvSpPr>
        <p:spPr>
          <a:xfrm>
            <a:off x="10033000" y="3009900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3,463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8018C3-8FE1-0C22-969C-AFD0395A3744}"/>
              </a:ext>
            </a:extLst>
          </p:cNvPr>
          <p:cNvSpPr txBox="1"/>
          <p:nvPr/>
        </p:nvSpPr>
        <p:spPr>
          <a:xfrm>
            <a:off x="5207000" y="3568700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Decode columns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EC847C-6EA2-F67D-B064-846626BE1BBA}"/>
              </a:ext>
            </a:extLst>
          </p:cNvPr>
          <p:cNvSpPr/>
          <p:nvPr/>
        </p:nvSpPr>
        <p:spPr>
          <a:xfrm>
            <a:off x="6604000" y="3619500"/>
            <a:ext cx="3302000" cy="355600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E75BBF-C13A-C56D-DE06-8718050CBA72}"/>
              </a:ext>
            </a:extLst>
          </p:cNvPr>
          <p:cNvSpPr/>
          <p:nvPr/>
        </p:nvSpPr>
        <p:spPr>
          <a:xfrm>
            <a:off x="6604000" y="3619500"/>
            <a:ext cx="546100" cy="3556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ED3E76-AADE-9B8D-BF86-5E6642F57BFE}"/>
              </a:ext>
            </a:extLst>
          </p:cNvPr>
          <p:cNvSpPr txBox="1"/>
          <p:nvPr/>
        </p:nvSpPr>
        <p:spPr>
          <a:xfrm>
            <a:off x="10033000" y="3568700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3,217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3950B4-6233-94DB-EAA5-32DC6173A2EB}"/>
              </a:ext>
            </a:extLst>
          </p:cNvPr>
          <p:cNvSpPr/>
          <p:nvPr/>
        </p:nvSpPr>
        <p:spPr>
          <a:xfrm>
            <a:off x="5207000" y="4635500"/>
            <a:ext cx="5969000" cy="88900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C77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300">
                <a:solidFill>
                  <a:srgbClr val="17212B"/>
                </a:solidFill>
                <a:latin typeface="Aptos" panose="020B0004020202020204" pitchFamily="34" charset="0"/>
              </a:rPr>
              <a:t>Interpretation
When the column current is too large, the extra analog value is lost. Clamped columns are a critical warning sign.</a:t>
            </a:r>
          </a:p>
        </p:txBody>
      </p:sp>
    </p:spTree>
    <p:extLst>
      <p:ext uri="{BB962C8B-B14F-4D97-AF65-F5344CB8AC3E}">
        <p14:creationId xmlns:p14="http://schemas.microsoft.com/office/powerpoint/2010/main" val="77269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7431D1-7507-5C96-3300-8F3611499D6F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TDC: How The Analog Result Was Converted To Digital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BFF46-4169-52E1-2A9D-3E678ACD250B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SAR-FP TDC adds compact readout quantization after analog limiting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68FF8-00B8-DDAB-A655-13ADED7FA88B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9DB7DB-4EA8-4B48-17A6-11ED6926D752}"/>
              </a:ext>
            </a:extLst>
          </p:cNvPr>
          <p:cNvSpPr/>
          <p:nvPr/>
        </p:nvSpPr>
        <p:spPr>
          <a:xfrm>
            <a:off x="698500" y="1333500"/>
            <a:ext cx="48260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400">
                <a:solidFill>
                  <a:srgbClr val="17212B"/>
                </a:solidFill>
                <a:latin typeface="Aptos" panose="020B0004020202020204" pitchFamily="34" charset="0"/>
              </a:rPr>
              <a:t>TDC model
9-bit signed payload
SAR-FP output format
gain_shift = 0
Observed
22,101,664 output values converted
198,914,976 wire bits
0 extra SAR range clips
Mean error: 6.663875
Max error: 58,444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61204-B34A-D9B1-622E-132497BE8339}"/>
              </a:ext>
            </a:extLst>
          </p:cNvPr>
          <p:cNvSpPr txBox="1"/>
          <p:nvPr/>
        </p:nvSpPr>
        <p:spPr>
          <a:xfrm>
            <a:off x="6159500" y="1524000"/>
            <a:ext cx="4953000" cy="2205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17212B"/>
                </a:solidFill>
                <a:latin typeface="Aptos" panose="020B0004020202020204" pitchFamily="34" charset="0"/>
              </a:rPr>
              <a:t>Mean TDC integer error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02C8B-C780-80A0-1B51-EC8B7A73C239}"/>
              </a:ext>
            </a:extLst>
          </p:cNvPr>
          <p:cNvSpPr txBox="1"/>
          <p:nvPr/>
        </p:nvSpPr>
        <p:spPr>
          <a:xfrm>
            <a:off x="6159500" y="1955800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Prefill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B28407-23DC-85F4-3997-B49454607286}"/>
              </a:ext>
            </a:extLst>
          </p:cNvPr>
          <p:cNvSpPr/>
          <p:nvPr/>
        </p:nvSpPr>
        <p:spPr>
          <a:xfrm>
            <a:off x="7556500" y="2006600"/>
            <a:ext cx="2286000" cy="364067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23A2D8-8A9F-A890-2749-FDCBB59D0A22}"/>
              </a:ext>
            </a:extLst>
          </p:cNvPr>
          <p:cNvSpPr/>
          <p:nvPr/>
        </p:nvSpPr>
        <p:spPr>
          <a:xfrm>
            <a:off x="7556500" y="2006600"/>
            <a:ext cx="1041400" cy="364067"/>
          </a:xfrm>
          <a:prstGeom prst="rect">
            <a:avLst/>
          </a:prstGeom>
          <a:solidFill>
            <a:srgbClr val="B63E3E"/>
          </a:solidFill>
          <a:ln w="12700">
            <a:solidFill>
              <a:srgbClr val="B6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DF4D6-F098-3CBC-B663-DF8A0C99B99C}"/>
              </a:ext>
            </a:extLst>
          </p:cNvPr>
          <p:cNvSpPr txBox="1"/>
          <p:nvPr/>
        </p:nvSpPr>
        <p:spPr>
          <a:xfrm>
            <a:off x="9969500" y="1955800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6.390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53E41-B15F-1F08-415A-0E8420526F23}"/>
              </a:ext>
            </a:extLst>
          </p:cNvPr>
          <p:cNvSpPr txBox="1"/>
          <p:nvPr/>
        </p:nvSpPr>
        <p:spPr>
          <a:xfrm>
            <a:off x="6159500" y="2523067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Decode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019CE6-EDB4-6812-EA47-A85EB8E29C88}"/>
              </a:ext>
            </a:extLst>
          </p:cNvPr>
          <p:cNvSpPr/>
          <p:nvPr/>
        </p:nvSpPr>
        <p:spPr>
          <a:xfrm>
            <a:off x="7556500" y="2573867"/>
            <a:ext cx="2286000" cy="364066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CFDEDF-74EF-EBD4-16E3-9B224EB34214}"/>
              </a:ext>
            </a:extLst>
          </p:cNvPr>
          <p:cNvSpPr/>
          <p:nvPr/>
        </p:nvSpPr>
        <p:spPr>
          <a:xfrm>
            <a:off x="7556500" y="2573867"/>
            <a:ext cx="2286000" cy="364066"/>
          </a:xfrm>
          <a:prstGeom prst="rect">
            <a:avLst/>
          </a:prstGeom>
          <a:solidFill>
            <a:srgbClr val="B63E3E"/>
          </a:solidFill>
          <a:ln w="12700">
            <a:solidFill>
              <a:srgbClr val="B6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9D2B5E-147F-05C7-0BD9-5AC30C567EDD}"/>
              </a:ext>
            </a:extLst>
          </p:cNvPr>
          <p:cNvSpPr txBox="1"/>
          <p:nvPr/>
        </p:nvSpPr>
        <p:spPr>
          <a:xfrm>
            <a:off x="9969500" y="2523067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14.045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1A282-D61E-5DF7-27F0-196657FFB836}"/>
              </a:ext>
            </a:extLst>
          </p:cNvPr>
          <p:cNvSpPr txBox="1"/>
          <p:nvPr/>
        </p:nvSpPr>
        <p:spPr>
          <a:xfrm>
            <a:off x="6159500" y="3090333"/>
            <a:ext cx="127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Total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71887-7986-7E3D-E6E6-A50850D904F8}"/>
              </a:ext>
            </a:extLst>
          </p:cNvPr>
          <p:cNvSpPr/>
          <p:nvPr/>
        </p:nvSpPr>
        <p:spPr>
          <a:xfrm>
            <a:off x="7556500" y="3141133"/>
            <a:ext cx="2286000" cy="364067"/>
          </a:xfrm>
          <a:prstGeom prst="rect">
            <a:avLst/>
          </a:prstGeom>
          <a:solidFill>
            <a:srgbClr val="EDF1F5"/>
          </a:solidFill>
          <a:ln w="12700">
            <a:solidFill>
              <a:srgbClr val="ED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429C58-E1F2-0CE4-6B72-B2C8CE4161CE}"/>
              </a:ext>
            </a:extLst>
          </p:cNvPr>
          <p:cNvSpPr/>
          <p:nvPr/>
        </p:nvSpPr>
        <p:spPr>
          <a:xfrm>
            <a:off x="7556500" y="3141133"/>
            <a:ext cx="1079500" cy="364067"/>
          </a:xfrm>
          <a:prstGeom prst="rect">
            <a:avLst/>
          </a:prstGeom>
          <a:solidFill>
            <a:srgbClr val="B63E3E"/>
          </a:solidFill>
          <a:ln w="12700">
            <a:solidFill>
              <a:srgbClr val="B6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F8E8F0-2589-A5B6-344C-19516A44E1BC}"/>
              </a:ext>
            </a:extLst>
          </p:cNvPr>
          <p:cNvSpPr txBox="1"/>
          <p:nvPr/>
        </p:nvSpPr>
        <p:spPr>
          <a:xfrm>
            <a:off x="9969500" y="3090333"/>
            <a:ext cx="1143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6.664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F80B98B-8E86-2175-0D75-1ACB2CFE7DE9}"/>
              </a:ext>
            </a:extLst>
          </p:cNvPr>
          <p:cNvSpPr/>
          <p:nvPr/>
        </p:nvSpPr>
        <p:spPr>
          <a:xfrm>
            <a:off x="6159500" y="4254500"/>
            <a:ext cx="4953000" cy="107950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B6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300">
                <a:solidFill>
                  <a:srgbClr val="17212B"/>
                </a:solidFill>
                <a:latin typeface="Aptos" panose="020B0004020202020204" pitchFamily="34" charset="0"/>
              </a:rPr>
              <a:t>Interpretation
TDC is the final conversion from analog branch result into compact digital code. The biggest readout error appeared in decode attention AV.</a:t>
            </a:r>
          </a:p>
        </p:txBody>
      </p:sp>
    </p:spTree>
    <p:extLst>
      <p:ext uri="{BB962C8B-B14F-4D97-AF65-F5344CB8AC3E}">
        <p14:creationId xmlns:p14="http://schemas.microsoft.com/office/powerpoint/2010/main" val="95613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418-5980-44F7-EE11-928031307789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Prefill vs Decode Hardware Effects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1D55C-7CC5-0CAC-5681-9C4165DDECB4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Decode has fewer tokens but still large attention-context pressure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FC23E-8BD6-6007-D9A5-8E8B10CE7EB4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77EC0F-46D9-7185-6063-E60B9ACB1640}"/>
              </a:ext>
            </a:extLst>
          </p:cNvPr>
          <p:cNvSpPr/>
          <p:nvPr/>
        </p:nvSpPr>
        <p:spPr>
          <a:xfrm>
            <a:off x="571500" y="1524000"/>
            <a:ext cx="1206500" cy="6985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Phase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8A81C-3D98-7190-5378-028EF01691E6}"/>
              </a:ext>
            </a:extLst>
          </p:cNvPr>
          <p:cNvSpPr/>
          <p:nvPr/>
        </p:nvSpPr>
        <p:spPr>
          <a:xfrm>
            <a:off x="1778000" y="1524000"/>
            <a:ext cx="2159000" cy="6985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Reliability
mean/max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A3894-18B3-5317-EAFF-FE8BDF5EE62C}"/>
              </a:ext>
            </a:extLst>
          </p:cNvPr>
          <p:cNvSpPr/>
          <p:nvPr/>
        </p:nvSpPr>
        <p:spPr>
          <a:xfrm>
            <a:off x="3937000" y="1524000"/>
            <a:ext cx="2032000" cy="6985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Noise
mean/max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D9D740-7E5F-A11F-38F4-627FB85285F1}"/>
              </a:ext>
            </a:extLst>
          </p:cNvPr>
          <p:cNvSpPr/>
          <p:nvPr/>
        </p:nvSpPr>
        <p:spPr>
          <a:xfrm>
            <a:off x="5969000" y="1524000"/>
            <a:ext cx="1524000" cy="6985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IV events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D95C9A-F87C-E53E-9781-FEBF8FD57297}"/>
              </a:ext>
            </a:extLst>
          </p:cNvPr>
          <p:cNvSpPr/>
          <p:nvPr/>
        </p:nvSpPr>
        <p:spPr>
          <a:xfrm>
            <a:off x="7493000" y="1524000"/>
            <a:ext cx="1714500" cy="6985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Clamped
columns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751431-2F03-54C8-FEF5-4CC299F5A293}"/>
              </a:ext>
            </a:extLst>
          </p:cNvPr>
          <p:cNvSpPr/>
          <p:nvPr/>
        </p:nvSpPr>
        <p:spPr>
          <a:xfrm>
            <a:off x="9207500" y="1524000"/>
            <a:ext cx="2349500" cy="6985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TDC
mean/max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689F5E-8F89-0864-64FD-31BCBF9342E4}"/>
              </a:ext>
            </a:extLst>
          </p:cNvPr>
          <p:cNvSpPr/>
          <p:nvPr/>
        </p:nvSpPr>
        <p:spPr>
          <a:xfrm>
            <a:off x="571500" y="2222500"/>
            <a:ext cx="12065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Prefill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2F3B93-0CBB-DA13-ACEE-DE93FB0841E8}"/>
              </a:ext>
            </a:extLst>
          </p:cNvPr>
          <p:cNvSpPr/>
          <p:nvPr/>
        </p:nvSpPr>
        <p:spPr>
          <a:xfrm>
            <a:off x="1778000" y="2222500"/>
            <a:ext cx="2159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4.983 / 1,217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23C1A6-A750-4A71-70DE-C2543324BC7B}"/>
              </a:ext>
            </a:extLst>
          </p:cNvPr>
          <p:cNvSpPr/>
          <p:nvPr/>
        </p:nvSpPr>
        <p:spPr>
          <a:xfrm>
            <a:off x="3937000" y="2222500"/>
            <a:ext cx="203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28.504 / 31.215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125CF9-FF68-2464-2CD1-7871AAF5040F}"/>
              </a:ext>
            </a:extLst>
          </p:cNvPr>
          <p:cNvSpPr/>
          <p:nvPr/>
        </p:nvSpPr>
        <p:spPr>
          <a:xfrm>
            <a:off x="5969000" y="2222500"/>
            <a:ext cx="1524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19,411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E36AE4-54B2-8A8E-63F3-3B4085919B36}"/>
              </a:ext>
            </a:extLst>
          </p:cNvPr>
          <p:cNvSpPr/>
          <p:nvPr/>
        </p:nvSpPr>
        <p:spPr>
          <a:xfrm>
            <a:off x="7493000" y="2222500"/>
            <a:ext cx="17145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3,463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71EAF4-55FD-D021-5A91-FDDB7DFD6F8A}"/>
              </a:ext>
            </a:extLst>
          </p:cNvPr>
          <p:cNvSpPr/>
          <p:nvPr/>
        </p:nvSpPr>
        <p:spPr>
          <a:xfrm>
            <a:off x="9207500" y="2222500"/>
            <a:ext cx="23495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6.390 / 38,893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5CE4BE-E9D8-0C87-5EDE-8FF3C2FA16D0}"/>
              </a:ext>
            </a:extLst>
          </p:cNvPr>
          <p:cNvSpPr/>
          <p:nvPr/>
        </p:nvSpPr>
        <p:spPr>
          <a:xfrm>
            <a:off x="571500" y="2921000"/>
            <a:ext cx="1206500" cy="698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Decode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B1CB19-6F4E-6B77-AA68-B42A1D3E0024}"/>
              </a:ext>
            </a:extLst>
          </p:cNvPr>
          <p:cNvSpPr/>
          <p:nvPr/>
        </p:nvSpPr>
        <p:spPr>
          <a:xfrm>
            <a:off x="1778000" y="2921000"/>
            <a:ext cx="2159000" cy="698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9.383 / 513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FAF041-ADB9-A5D0-FEBB-5406BD623C39}"/>
              </a:ext>
            </a:extLst>
          </p:cNvPr>
          <p:cNvSpPr/>
          <p:nvPr/>
        </p:nvSpPr>
        <p:spPr>
          <a:xfrm>
            <a:off x="3937000" y="2921000"/>
            <a:ext cx="2032000" cy="698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28.498 / 32.352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1AED04-A77B-30E7-05E9-95944415187B}"/>
              </a:ext>
            </a:extLst>
          </p:cNvPr>
          <p:cNvSpPr/>
          <p:nvPr/>
        </p:nvSpPr>
        <p:spPr>
          <a:xfrm>
            <a:off x="5969000" y="2921000"/>
            <a:ext cx="1524000" cy="698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3,355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DF2F9C-251A-12B1-4ACC-07A565114E3C}"/>
              </a:ext>
            </a:extLst>
          </p:cNvPr>
          <p:cNvSpPr/>
          <p:nvPr/>
        </p:nvSpPr>
        <p:spPr>
          <a:xfrm>
            <a:off x="7493000" y="2921000"/>
            <a:ext cx="1714500" cy="698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3,217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E929D7-DC52-B3B8-0452-186F2B6026AE}"/>
              </a:ext>
            </a:extLst>
          </p:cNvPr>
          <p:cNvSpPr/>
          <p:nvPr/>
        </p:nvSpPr>
        <p:spPr>
          <a:xfrm>
            <a:off x="9207500" y="2921000"/>
            <a:ext cx="2349500" cy="698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14.045 / 58,444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5ECF51-93F2-9A5D-44B4-283B4ED1ED17}"/>
              </a:ext>
            </a:extLst>
          </p:cNvPr>
          <p:cNvSpPr/>
          <p:nvPr/>
        </p:nvSpPr>
        <p:spPr>
          <a:xfrm>
            <a:off x="571500" y="3619500"/>
            <a:ext cx="12065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Total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001F8-D1F1-734D-8935-CF03030140D3}"/>
              </a:ext>
            </a:extLst>
          </p:cNvPr>
          <p:cNvSpPr/>
          <p:nvPr/>
        </p:nvSpPr>
        <p:spPr>
          <a:xfrm>
            <a:off x="1778000" y="3619500"/>
            <a:ext cx="2159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5.141 / 1,217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7E1943-E931-30B9-E53B-9A9FCC84B9FF}"/>
              </a:ext>
            </a:extLst>
          </p:cNvPr>
          <p:cNvSpPr/>
          <p:nvPr/>
        </p:nvSpPr>
        <p:spPr>
          <a:xfrm>
            <a:off x="3937000" y="3619500"/>
            <a:ext cx="2032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28.504 / 32.352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47D92F-0C27-F313-7BB8-0929E5435DE9}"/>
              </a:ext>
            </a:extLst>
          </p:cNvPr>
          <p:cNvSpPr/>
          <p:nvPr/>
        </p:nvSpPr>
        <p:spPr>
          <a:xfrm>
            <a:off x="5969000" y="3619500"/>
            <a:ext cx="1524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22,766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CDE593-ABF9-CACC-84B5-D6D1AACD872A}"/>
              </a:ext>
            </a:extLst>
          </p:cNvPr>
          <p:cNvSpPr/>
          <p:nvPr/>
        </p:nvSpPr>
        <p:spPr>
          <a:xfrm>
            <a:off x="7493000" y="3619500"/>
            <a:ext cx="17145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6,680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71334A-6AED-B381-47A2-D186628C0382}"/>
              </a:ext>
            </a:extLst>
          </p:cNvPr>
          <p:cNvSpPr/>
          <p:nvPr/>
        </p:nvSpPr>
        <p:spPr>
          <a:xfrm>
            <a:off x="9207500" y="3619500"/>
            <a:ext cx="23495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900">
                <a:solidFill>
                  <a:srgbClr val="17212B"/>
                </a:solidFill>
                <a:latin typeface="Aptos" panose="020B0004020202020204" pitchFamily="34" charset="0"/>
              </a:rPr>
              <a:t>6.664 / 58,444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DC5449-1A60-AFF0-1E3A-58AB6CBBDE38}"/>
              </a:ext>
            </a:extLst>
          </p:cNvPr>
          <p:cNvSpPr/>
          <p:nvPr/>
        </p:nvSpPr>
        <p:spPr>
          <a:xfrm>
            <a:off x="952500" y="4635500"/>
            <a:ext cx="10287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>
                <a:solidFill>
                  <a:srgbClr val="17212B"/>
                </a:solidFill>
                <a:latin typeface="Aptos" panose="020B0004020202020204" pitchFamily="34" charset="0"/>
              </a:rPr>
              <a:t>Main reading: prefill has more total IV/ADC events because it processes 27 tokens. Decode has fewer events, but its attention context still produces high clamped-column pressure and the worst TDC error.</a:t>
            </a:r>
          </a:p>
        </p:txBody>
      </p:sp>
    </p:spTree>
    <p:extLst>
      <p:ext uri="{BB962C8B-B14F-4D97-AF65-F5344CB8AC3E}">
        <p14:creationId xmlns:p14="http://schemas.microsoft.com/office/powerpoint/2010/main" val="893354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8C5539-FB2B-4AD6-1930-B3674B99944C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Largest Hardware-Error Hotspots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8DEEA-8583-E215-C097-ABDBF1F49826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Where the inference run is most sensitive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71E34-6666-3AA9-35EF-9529D7C06124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04235E-23BD-F611-5AF3-852B41591602}"/>
              </a:ext>
            </a:extLst>
          </p:cNvPr>
          <p:cNvSpPr/>
          <p:nvPr/>
        </p:nvSpPr>
        <p:spPr>
          <a:xfrm>
            <a:off x="444500" y="1270000"/>
            <a:ext cx="1079500" cy="6096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 panose="020B0004020202020204" pitchFamily="34" charset="0"/>
              </a:rPr>
              <a:t>Phase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2A8DCF-DB50-B35D-465F-B9FB5895706F}"/>
              </a:ext>
            </a:extLst>
          </p:cNvPr>
          <p:cNvSpPr/>
          <p:nvPr/>
        </p:nvSpPr>
        <p:spPr>
          <a:xfrm>
            <a:off x="1524000" y="1270000"/>
            <a:ext cx="3175000" cy="6096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 panose="020B0004020202020204" pitchFamily="34" charset="0"/>
              </a:rPr>
              <a:t>Role / module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7913B-EEF4-07A2-3C88-D100030EBC22}"/>
              </a:ext>
            </a:extLst>
          </p:cNvPr>
          <p:cNvSpPr/>
          <p:nvPr/>
        </p:nvSpPr>
        <p:spPr>
          <a:xfrm>
            <a:off x="4699000" y="1270000"/>
            <a:ext cx="1270000" cy="6096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 panose="020B0004020202020204" pitchFamily="34" charset="0"/>
              </a:rPr>
              <a:t>IV events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B6EF1-CA72-BFBF-1CC5-928D1E8DE27B}"/>
              </a:ext>
            </a:extLst>
          </p:cNvPr>
          <p:cNvSpPr/>
          <p:nvPr/>
        </p:nvSpPr>
        <p:spPr>
          <a:xfrm>
            <a:off x="5969000" y="1270000"/>
            <a:ext cx="1270000" cy="6096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 panose="020B0004020202020204" pitchFamily="34" charset="0"/>
              </a:rPr>
              <a:t>Clamped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2ED49E-4996-5852-F1DE-3FCCADE39F04}"/>
              </a:ext>
            </a:extLst>
          </p:cNvPr>
          <p:cNvSpPr/>
          <p:nvPr/>
        </p:nvSpPr>
        <p:spPr>
          <a:xfrm>
            <a:off x="7239000" y="1270000"/>
            <a:ext cx="1524000" cy="6096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 panose="020B0004020202020204" pitchFamily="34" charset="0"/>
              </a:rPr>
              <a:t>Reliability
mean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311841-9F5A-DCFE-8DE5-80AFCCEB407F}"/>
              </a:ext>
            </a:extLst>
          </p:cNvPr>
          <p:cNvSpPr/>
          <p:nvPr/>
        </p:nvSpPr>
        <p:spPr>
          <a:xfrm>
            <a:off x="8763000" y="1270000"/>
            <a:ext cx="2794000" cy="609600"/>
          </a:xfrm>
          <a:prstGeom prst="rect">
            <a:avLst/>
          </a:prstGeom>
          <a:solidFill>
            <a:srgbClr val="17212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 panose="020B0004020202020204" pitchFamily="34" charset="0"/>
              </a:rPr>
              <a:t>TDC
mean/max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94C4D5-2763-97A4-41B1-8649CE276E1E}"/>
              </a:ext>
            </a:extLst>
          </p:cNvPr>
          <p:cNvSpPr/>
          <p:nvPr/>
        </p:nvSpPr>
        <p:spPr>
          <a:xfrm>
            <a:off x="444500" y="1879600"/>
            <a:ext cx="1079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decode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4666B9-CE5D-3212-B938-82316D8EDD60}"/>
              </a:ext>
            </a:extLst>
          </p:cNvPr>
          <p:cNvSpPr/>
          <p:nvPr/>
        </p:nvSpPr>
        <p:spPr>
          <a:xfrm>
            <a:off x="1524000" y="1879600"/>
            <a:ext cx="317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sv-SE" sz="850">
                <a:solidFill>
                  <a:srgbClr val="17212B"/>
                </a:solidFill>
                <a:latin typeface="Aptos" panose="020B0004020202020204" pitchFamily="34" charset="0"/>
              </a:rPr>
              <a:t>attn_av / mapped_attn_av</a:t>
            </a:r>
            <a:endParaRPr lang="en-US" sz="850">
              <a:solidFill>
                <a:srgbClr val="17212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29EC7D-A319-EE8C-C029-97C782D24B30}"/>
              </a:ext>
            </a:extLst>
          </p:cNvPr>
          <p:cNvSpPr/>
          <p:nvPr/>
        </p:nvSpPr>
        <p:spPr>
          <a:xfrm>
            <a:off x="4699000" y="1879600"/>
            <a:ext cx="127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777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36A55-248B-3CA8-64F5-80A8B41B07BF}"/>
              </a:ext>
            </a:extLst>
          </p:cNvPr>
          <p:cNvSpPr/>
          <p:nvPr/>
        </p:nvSpPr>
        <p:spPr>
          <a:xfrm>
            <a:off x="5969000" y="1879600"/>
            <a:ext cx="127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747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469F93-CE72-E016-E0F1-771474B0D429}"/>
              </a:ext>
            </a:extLst>
          </p:cNvPr>
          <p:cNvSpPr/>
          <p:nvPr/>
        </p:nvSpPr>
        <p:spPr>
          <a:xfrm>
            <a:off x="7239000" y="1879600"/>
            <a:ext cx="152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16.569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1EC4F3-BF6A-1841-15D5-BC7982FCF733}"/>
              </a:ext>
            </a:extLst>
          </p:cNvPr>
          <p:cNvSpPr/>
          <p:nvPr/>
        </p:nvSpPr>
        <p:spPr>
          <a:xfrm>
            <a:off x="8763000" y="1879600"/>
            <a:ext cx="279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805.297 / 58,444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86A22F-4005-95E8-DAA2-977B0DB5A814}"/>
              </a:ext>
            </a:extLst>
          </p:cNvPr>
          <p:cNvSpPr/>
          <p:nvPr/>
        </p:nvSpPr>
        <p:spPr>
          <a:xfrm>
            <a:off x="444500" y="2489200"/>
            <a:ext cx="10795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prefill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7DE47B-E99C-8966-31FC-09F74C9B1714}"/>
              </a:ext>
            </a:extLst>
          </p:cNvPr>
          <p:cNvSpPr/>
          <p:nvPr/>
        </p:nvSpPr>
        <p:spPr>
          <a:xfrm>
            <a:off x="1524000" y="2489200"/>
            <a:ext cx="3175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sv-SE" sz="850">
                <a:solidFill>
                  <a:srgbClr val="17212B"/>
                </a:solidFill>
                <a:latin typeface="Aptos" panose="020B0004020202020204" pitchFamily="34" charset="0"/>
              </a:rPr>
              <a:t>attn_av / mapped_attn_av</a:t>
            </a:r>
            <a:endParaRPr lang="en-US" sz="850">
              <a:solidFill>
                <a:srgbClr val="17212B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E5DC18-195E-CDE4-E1BC-08B930F30C48}"/>
              </a:ext>
            </a:extLst>
          </p:cNvPr>
          <p:cNvSpPr/>
          <p:nvPr/>
        </p:nvSpPr>
        <p:spPr>
          <a:xfrm>
            <a:off x="4699000" y="2489200"/>
            <a:ext cx="1270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8,834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9D28E5-AB6C-7D40-81A7-CD4231449DBC}"/>
              </a:ext>
            </a:extLst>
          </p:cNvPr>
          <p:cNvSpPr/>
          <p:nvPr/>
        </p:nvSpPr>
        <p:spPr>
          <a:xfrm>
            <a:off x="5969000" y="2489200"/>
            <a:ext cx="1270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1,628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3CB937-580D-9E3F-AA5D-A8355B73C332}"/>
              </a:ext>
            </a:extLst>
          </p:cNvPr>
          <p:cNvSpPr/>
          <p:nvPr/>
        </p:nvSpPr>
        <p:spPr>
          <a:xfrm>
            <a:off x="7239000" y="2489200"/>
            <a:ext cx="1524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9.917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D1FF19-22E1-D184-337A-3E5D0CB76022}"/>
              </a:ext>
            </a:extLst>
          </p:cNvPr>
          <p:cNvSpPr/>
          <p:nvPr/>
        </p:nvSpPr>
        <p:spPr>
          <a:xfrm>
            <a:off x="8763000" y="2489200"/>
            <a:ext cx="2794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257.360 / 38,893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C040C1-E798-CE65-E959-B4F5CA8B66FA}"/>
              </a:ext>
            </a:extLst>
          </p:cNvPr>
          <p:cNvSpPr/>
          <p:nvPr/>
        </p:nvSpPr>
        <p:spPr>
          <a:xfrm>
            <a:off x="444500" y="3098800"/>
            <a:ext cx="1079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decode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E5EFB5-537A-AD3C-69BE-90063EFE59A4}"/>
              </a:ext>
            </a:extLst>
          </p:cNvPr>
          <p:cNvSpPr/>
          <p:nvPr/>
        </p:nvSpPr>
        <p:spPr>
          <a:xfrm>
            <a:off x="1524000" y="3098800"/>
            <a:ext cx="317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v_proj / v_proj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F9C458-D691-65B1-B61A-7556E6AE1074}"/>
              </a:ext>
            </a:extLst>
          </p:cNvPr>
          <p:cNvSpPr/>
          <p:nvPr/>
        </p:nvSpPr>
        <p:spPr>
          <a:xfrm>
            <a:off x="4699000" y="3098800"/>
            <a:ext cx="127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1,096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69326A-A222-09EA-67F0-555E15B1EC76}"/>
              </a:ext>
            </a:extLst>
          </p:cNvPr>
          <p:cNvSpPr/>
          <p:nvPr/>
        </p:nvSpPr>
        <p:spPr>
          <a:xfrm>
            <a:off x="5969000" y="3098800"/>
            <a:ext cx="127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1,080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8303C4-F6CA-1B17-411A-9976D519CB62}"/>
              </a:ext>
            </a:extLst>
          </p:cNvPr>
          <p:cNvSpPr/>
          <p:nvPr/>
        </p:nvSpPr>
        <p:spPr>
          <a:xfrm>
            <a:off x="7239000" y="3098800"/>
            <a:ext cx="152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20.785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85639F-0384-CA99-C4D8-786E00E85F67}"/>
              </a:ext>
            </a:extLst>
          </p:cNvPr>
          <p:cNvSpPr/>
          <p:nvPr/>
        </p:nvSpPr>
        <p:spPr>
          <a:xfrm>
            <a:off x="8763000" y="3098800"/>
            <a:ext cx="279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43.299 / 8,374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5B3341-77E1-48A8-D6A8-398B0DEEC09A}"/>
              </a:ext>
            </a:extLst>
          </p:cNvPr>
          <p:cNvSpPr/>
          <p:nvPr/>
        </p:nvSpPr>
        <p:spPr>
          <a:xfrm>
            <a:off x="444500" y="3708400"/>
            <a:ext cx="10795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decode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061CE3-C5D4-E03C-1705-C9BE469155B5}"/>
              </a:ext>
            </a:extLst>
          </p:cNvPr>
          <p:cNvSpPr/>
          <p:nvPr/>
        </p:nvSpPr>
        <p:spPr>
          <a:xfrm>
            <a:off x="1524000" y="3708400"/>
            <a:ext cx="3175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out_proj / o_proj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B0ECC2-A260-A7FA-873C-BD21E1570555}"/>
              </a:ext>
            </a:extLst>
          </p:cNvPr>
          <p:cNvSpPr/>
          <p:nvPr/>
        </p:nvSpPr>
        <p:spPr>
          <a:xfrm>
            <a:off x="4699000" y="3708400"/>
            <a:ext cx="1270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540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40C0ED-6154-6BC1-86B0-0E1F0D307E44}"/>
              </a:ext>
            </a:extLst>
          </p:cNvPr>
          <p:cNvSpPr/>
          <p:nvPr/>
        </p:nvSpPr>
        <p:spPr>
          <a:xfrm>
            <a:off x="5969000" y="3708400"/>
            <a:ext cx="1270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455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B00567-A176-EE11-9A2E-8AB6F6691281}"/>
              </a:ext>
            </a:extLst>
          </p:cNvPr>
          <p:cNvSpPr/>
          <p:nvPr/>
        </p:nvSpPr>
        <p:spPr>
          <a:xfrm>
            <a:off x="7239000" y="3708400"/>
            <a:ext cx="1524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14.806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20C5C7-93D1-FA6F-5B90-1CAF53A737CF}"/>
              </a:ext>
            </a:extLst>
          </p:cNvPr>
          <p:cNvSpPr/>
          <p:nvPr/>
        </p:nvSpPr>
        <p:spPr>
          <a:xfrm>
            <a:off x="8763000" y="3708400"/>
            <a:ext cx="2794000" cy="609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19.438 / 7,452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9F0617-CC0E-F929-D3AA-3D36BB695AD7}"/>
              </a:ext>
            </a:extLst>
          </p:cNvPr>
          <p:cNvSpPr/>
          <p:nvPr/>
        </p:nvSpPr>
        <p:spPr>
          <a:xfrm>
            <a:off x="444500" y="4318000"/>
            <a:ext cx="1079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prefill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18D782-2D05-101D-3CAD-5360AFFFDF33}"/>
              </a:ext>
            </a:extLst>
          </p:cNvPr>
          <p:cNvSpPr/>
          <p:nvPr/>
        </p:nvSpPr>
        <p:spPr>
          <a:xfrm>
            <a:off x="1524000" y="4318000"/>
            <a:ext cx="317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v_proj / v_proj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BDFFB1-8BD2-53FD-2EF5-C8390FCD9848}"/>
              </a:ext>
            </a:extLst>
          </p:cNvPr>
          <p:cNvSpPr/>
          <p:nvPr/>
        </p:nvSpPr>
        <p:spPr>
          <a:xfrm>
            <a:off x="4699000" y="4318000"/>
            <a:ext cx="127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1,280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61350D-9C0C-B0CA-4B8E-2008423EB2FF}"/>
              </a:ext>
            </a:extLst>
          </p:cNvPr>
          <p:cNvSpPr/>
          <p:nvPr/>
        </p:nvSpPr>
        <p:spPr>
          <a:xfrm>
            <a:off x="5969000" y="4318000"/>
            <a:ext cx="127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420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F0DAC9-19B9-EB06-C8C7-F37969558D8D}"/>
              </a:ext>
            </a:extLst>
          </p:cNvPr>
          <p:cNvSpPr/>
          <p:nvPr/>
        </p:nvSpPr>
        <p:spPr>
          <a:xfrm>
            <a:off x="7239000" y="4318000"/>
            <a:ext cx="152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11.035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3FA053-4CB0-C7EA-D7F1-ED77E17AE4EC}"/>
              </a:ext>
            </a:extLst>
          </p:cNvPr>
          <p:cNvSpPr/>
          <p:nvPr/>
        </p:nvSpPr>
        <p:spPr>
          <a:xfrm>
            <a:off x="8763000" y="4318000"/>
            <a:ext cx="279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850">
                <a:solidFill>
                  <a:srgbClr val="17212B"/>
                </a:solidFill>
                <a:latin typeface="Aptos" panose="020B0004020202020204" pitchFamily="34" charset="0"/>
              </a:rPr>
              <a:t>17.505 / 7,588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333B794-0787-8A59-A9CA-4F88D8206E9A}"/>
              </a:ext>
            </a:extLst>
          </p:cNvPr>
          <p:cNvSpPr/>
          <p:nvPr/>
        </p:nvSpPr>
        <p:spPr>
          <a:xfrm>
            <a:off x="889000" y="5143500"/>
            <a:ext cx="10414000" cy="69850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B6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500" b="1">
                <a:solidFill>
                  <a:srgbClr val="17212B"/>
                </a:solidFill>
                <a:latin typeface="Aptos" panose="020B0004020202020204" pitchFamily="34" charset="0"/>
              </a:rPr>
              <a:t>Main hotspot: attention AV. Decode attention AV has the largest TDC error: mean 805.297 and max 58,444.</a:t>
            </a:r>
          </a:p>
        </p:txBody>
      </p:sp>
    </p:spTree>
    <p:extLst>
      <p:ext uri="{BB962C8B-B14F-4D97-AF65-F5344CB8AC3E}">
        <p14:creationId xmlns:p14="http://schemas.microsoft.com/office/powerpoint/2010/main" val="325544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9C52C-01C0-6A3E-183A-73B970743459}"/>
              </a:ext>
            </a:extLst>
          </p:cNvPr>
          <p:cNvSpPr txBox="1"/>
          <p:nvPr/>
        </p:nvSpPr>
        <p:spPr>
          <a:xfrm>
            <a:off x="508000" y="304800"/>
            <a:ext cx="11176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7212B"/>
                </a:solidFill>
                <a:latin typeface="Aptos" panose="020B0004020202020204" pitchFamily="34" charset="0"/>
              </a:rPr>
              <a:t>What This Means After Inference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781DD-E161-343D-1552-9639C0C61D01}"/>
              </a:ext>
            </a:extLst>
          </p:cNvPr>
          <p:cNvSpPr txBox="1"/>
          <p:nvPr/>
        </p:nvSpPr>
        <p:spPr>
          <a:xfrm>
            <a:off x="533400" y="762000"/>
            <a:ext cx="109220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6675"/>
                </a:solidFill>
                <a:latin typeface="Aptos" panose="020B0004020202020204" pitchFamily="34" charset="0"/>
              </a:rPr>
              <a:t>Hardware-only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966647-B78B-3EA4-BBAB-B84F99FD0BB4}"/>
              </a:ext>
            </a:extLst>
          </p:cNvPr>
          <p:cNvSpPr txBox="1"/>
          <p:nvPr/>
        </p:nvSpPr>
        <p:spPr>
          <a:xfrm>
            <a:off x="508000" y="6477000"/>
            <a:ext cx="11176000" cy="15901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700">
                <a:solidFill>
                  <a:srgbClr val="7B8492"/>
                </a:solidFill>
                <a:latin typeface="Aptos" panose="020B0004020202020204" pitchFamily="34" charset="0"/>
              </a:rPr>
              <a:t>Software crossbar hardware-effects inference audit | Qwen3-1.7B block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D578DC-8E92-157B-02C3-E9FAC63C99DB}"/>
              </a:ext>
            </a:extLst>
          </p:cNvPr>
          <p:cNvSpPr/>
          <p:nvPr/>
        </p:nvSpPr>
        <p:spPr>
          <a:xfrm>
            <a:off x="762000" y="1333500"/>
            <a:ext cx="2032000" cy="635000"/>
          </a:xfrm>
          <a:prstGeom prst="roundRect">
            <a:avLst/>
          </a:prstGeom>
          <a:solidFill>
            <a:srgbClr val="EDF6EE"/>
          </a:solidFill>
          <a:ln w="12700">
            <a:solidFill>
              <a:srgbClr val="3A7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 b="1">
                <a:solidFill>
                  <a:srgbClr val="3A7D44"/>
                </a:solidFill>
                <a:latin typeface="Aptos" panose="020B0004020202020204" pitchFamily="34" charset="0"/>
              </a:rPr>
              <a:t>Reliability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BBD70A-C612-A70E-A0E0-D5428410E655}"/>
              </a:ext>
            </a:extLst>
          </p:cNvPr>
          <p:cNvSpPr/>
          <p:nvPr/>
        </p:nvSpPr>
        <p:spPr>
          <a:xfrm>
            <a:off x="3175000" y="1333500"/>
            <a:ext cx="82550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300">
                <a:solidFill>
                  <a:srgbClr val="17212B"/>
                </a:solidFill>
                <a:latin typeface="Aptos" panose="020B0004020202020204" pitchFamily="34" charset="0"/>
              </a:rPr>
              <a:t>Stored cell levels drifted; effective INT8 weights changed; branch sums moved by 5.14 levels on average.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523236-B503-F53E-A768-14B80FB6065A}"/>
              </a:ext>
            </a:extLst>
          </p:cNvPr>
          <p:cNvSpPr/>
          <p:nvPr/>
        </p:nvSpPr>
        <p:spPr>
          <a:xfrm>
            <a:off x="762000" y="2324100"/>
            <a:ext cx="2032000" cy="635000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0E7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 b="1">
                <a:solidFill>
                  <a:srgbClr val="0E7C7B"/>
                </a:solidFill>
                <a:latin typeface="Aptos" panose="020B0004020202020204" pitchFamily="34" charset="0"/>
              </a:rPr>
              <a:t>Noise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9D06B1-AA04-1E44-3CBB-FCDFDDE75059}"/>
              </a:ext>
            </a:extLst>
          </p:cNvPr>
          <p:cNvSpPr/>
          <p:nvPr/>
        </p:nvSpPr>
        <p:spPr>
          <a:xfrm>
            <a:off x="3175000" y="2324100"/>
            <a:ext cx="82550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300">
                <a:solidFill>
                  <a:srgbClr val="17212B"/>
                </a:solidFill>
                <a:latin typeface="Aptos" panose="020B0004020202020204" pitchFamily="34" charset="0"/>
              </a:rPr>
              <a:t>Every read carried about 28.5 levels RMS uncertainty from analog noise sources.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3B7F4D-C5A1-C02B-C9D4-8E38A65DA5F3}"/>
              </a:ext>
            </a:extLst>
          </p:cNvPr>
          <p:cNvSpPr/>
          <p:nvPr/>
        </p:nvSpPr>
        <p:spPr>
          <a:xfrm>
            <a:off x="762000" y="3314700"/>
            <a:ext cx="2032000" cy="63500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C77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 b="1">
                <a:solidFill>
                  <a:srgbClr val="C77700"/>
                </a:solidFill>
                <a:latin typeface="Aptos" panose="020B0004020202020204" pitchFamily="34" charset="0"/>
              </a:rPr>
              <a:t>IV / ADC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03A1F5-7A9D-DA8F-E435-919EB8192B05}"/>
              </a:ext>
            </a:extLst>
          </p:cNvPr>
          <p:cNvSpPr/>
          <p:nvPr/>
        </p:nvSpPr>
        <p:spPr>
          <a:xfrm>
            <a:off x="3175000" y="3314700"/>
            <a:ext cx="82550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300">
                <a:solidFill>
                  <a:srgbClr val="17212B"/>
                </a:solidFill>
                <a:latin typeface="Aptos" panose="020B0004020202020204" pitchFamily="34" charset="0"/>
              </a:rPr>
              <a:t>Some column currents exceeded range: 22,766 saturation events and 6,680 clamped tile-columns.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971A71-1322-3F91-DD72-58F9848B2111}"/>
              </a:ext>
            </a:extLst>
          </p:cNvPr>
          <p:cNvSpPr/>
          <p:nvPr/>
        </p:nvSpPr>
        <p:spPr>
          <a:xfrm>
            <a:off x="762000" y="4305300"/>
            <a:ext cx="2032000" cy="63500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B6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 b="1">
                <a:solidFill>
                  <a:srgbClr val="B63E3E"/>
                </a:solidFill>
                <a:latin typeface="Aptos" panose="020B0004020202020204" pitchFamily="34" charset="0"/>
              </a:rPr>
              <a:t>TDC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64FA30-A297-318A-4933-3AFC66B4F923}"/>
              </a:ext>
            </a:extLst>
          </p:cNvPr>
          <p:cNvSpPr/>
          <p:nvPr/>
        </p:nvSpPr>
        <p:spPr>
          <a:xfrm>
            <a:off x="3175000" y="4305300"/>
            <a:ext cx="82550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300">
                <a:solidFill>
                  <a:srgbClr val="17212B"/>
                </a:solidFill>
                <a:latin typeface="Aptos" panose="020B0004020202020204" pitchFamily="34" charset="0"/>
              </a:rPr>
              <a:t>Final readout conversion added 6.66 mean integer error, with the worst error in decode attention AV.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BA05C7-D245-A00D-8D9D-BB3C00AA2E1D}"/>
              </a:ext>
            </a:extLst>
          </p:cNvPr>
          <p:cNvSpPr txBox="1"/>
          <p:nvPr/>
        </p:nvSpPr>
        <p:spPr>
          <a:xfrm>
            <a:off x="1016000" y="5588000"/>
            <a:ext cx="10160000" cy="1897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sz="900">
                <a:solidFill>
                  <a:srgbClr val="5A6675"/>
                </a:solidFill>
                <a:latin typeface="Aptos" panose="020B0004020202020204" pitchFamily="34" charset="0"/>
              </a:rPr>
              <a:t>Based on results/qwen3_block1_hwfx_20260623/hardware_effects_report.json</a:t>
            </a:r>
          </a:p>
        </p:txBody>
      </p:sp>
    </p:spTree>
    <p:extLst>
      <p:ext uri="{BB962C8B-B14F-4D97-AF65-F5344CB8AC3E}">
        <p14:creationId xmlns:p14="http://schemas.microsoft.com/office/powerpoint/2010/main" val="2934703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1126</Words>
  <Application>Microsoft Office PowerPoint</Application>
  <PresentationFormat>Widescreen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SAMARTH JAIN</dc:creator>
  <cp:lastModifiedBy>SAMARTH JAIN</cp:lastModifiedBy>
  <cp:revision>1</cp:revision>
  <dcterms:created xsi:type="dcterms:W3CDTF">2026-06-23T12:35:06Z</dcterms:created>
  <dcterms:modified xsi:type="dcterms:W3CDTF">2026-06-23T12:43:08Z</dcterms:modified>
</cp:coreProperties>
</file>